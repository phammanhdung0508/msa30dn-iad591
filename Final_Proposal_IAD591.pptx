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65" r:id="rId3"/>
    <p:sldId id="257" r:id="rId4"/>
    <p:sldId id="258" r:id="rId5"/>
    <p:sldId id="261" r:id="rId6"/>
    <p:sldId id="259" r:id="rId7"/>
    <p:sldId id="266" r:id="rId8"/>
    <p:sldId id="263" r:id="rId9"/>
    <p:sldId id="262" r:id="rId10"/>
    <p:sldId id="260" r:id="rId11"/>
    <p:sldId id="264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92D772-D047-2FE6-56A2-2D3CEA954A44}" v="284" dt="2026-01-24T16:27:39.358"/>
    <p1510:client id="{4B3997FD-A1FD-D71D-3F0F-A3998BB9ACEA}" v="226" dt="2026-01-24T17:27:07.362"/>
    <p1510:client id="{586E8D46-ACD8-A31C-7289-D71133DB4DBA}" v="29" dt="2026-01-25T02:38:19.5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5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65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674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78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16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2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68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30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0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6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4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67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5325" y="2485103"/>
            <a:ext cx="8884104" cy="3269590"/>
          </a:xfrm>
        </p:spPr>
        <p:txBody>
          <a:bodyPr anchor="b">
            <a:normAutofit/>
          </a:bodyPr>
          <a:lstStyle/>
          <a:p>
            <a:r>
              <a:rPr lang="en-US" sz="6600" dirty="0" err="1"/>
              <a:t>FInal</a:t>
            </a:r>
            <a:r>
              <a:rPr lang="en-US" sz="6600" dirty="0"/>
              <a:t> </a:t>
            </a:r>
            <a:r>
              <a:rPr lang="en-US" sz="6600" dirty="0" err="1"/>
              <a:t>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900" y="1184470"/>
            <a:ext cx="8855529" cy="1011050"/>
          </a:xfrm>
        </p:spPr>
        <p:txBody>
          <a:bodyPr anchor="t">
            <a:normAutofit/>
          </a:bodyPr>
          <a:lstStyle/>
          <a:p>
            <a:r>
              <a:rPr lang="en-US" sz="4400" dirty="0">
                <a:ea typeface="+mn-lt"/>
                <a:cs typeface="+mn-lt"/>
              </a:rPr>
              <a:t>MSA30DN-IAD591</a:t>
            </a:r>
            <a:endParaRPr lang="en-US" sz="44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C0243-EB6F-3DB1-CE8B-633159D3F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144" y="2769079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ea typeface="+mj-lt"/>
                <a:cs typeface="+mj-lt"/>
              </a:rPr>
              <a:t>Smart AC Control System</a:t>
            </a:r>
            <a:endParaRPr lang="en-US" sz="6000" b="1"/>
          </a:p>
        </p:txBody>
      </p:sp>
    </p:spTree>
    <p:extLst>
      <p:ext uri="{BB962C8B-B14F-4D97-AF65-F5344CB8AC3E}">
        <p14:creationId xmlns:p14="http://schemas.microsoft.com/office/powerpoint/2010/main" val="3333101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C9836-77B0-D2CD-8BB0-EAA6B8506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Nhóm</a:t>
            </a:r>
            <a:r>
              <a:rPr lang="en-US" dirty="0"/>
              <a:t> 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E377D-79D9-BD09-9CD9-B0EDA057E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 err="1"/>
              <a:t>Giảng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: </a:t>
            </a:r>
            <a:r>
              <a:rPr lang="en-US" sz="2400" dirty="0">
                <a:ea typeface="+mn-lt"/>
                <a:cs typeface="+mn-lt"/>
              </a:rPr>
              <a:t>Nguyen The Nghia.</a:t>
            </a:r>
          </a:p>
          <a:p>
            <a:r>
              <a:rPr lang="en-US" sz="2400" dirty="0"/>
              <a:t>Thành </a:t>
            </a:r>
            <a:r>
              <a:rPr lang="en-US" sz="2400" err="1"/>
              <a:t>viên</a:t>
            </a:r>
            <a:r>
              <a:rPr lang="en-US" sz="2400" dirty="0"/>
              <a:t>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 dirty="0"/>
              <a:t>Nguyen Kim Thinh - </a:t>
            </a:r>
            <a:r>
              <a:rPr lang="en-US" sz="2400" dirty="0">
                <a:ea typeface="+mn-lt"/>
                <a:cs typeface="+mn-lt"/>
              </a:rPr>
              <a:t>25MSA33051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 dirty="0"/>
              <a:t>Nguyen Tran Quang Manh - </a:t>
            </a:r>
            <a:r>
              <a:rPr lang="en-US" sz="2400" dirty="0">
                <a:ea typeface="+mn-lt"/>
                <a:cs typeface="+mn-lt"/>
              </a:rPr>
              <a:t>25MSA33060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 dirty="0"/>
              <a:t>Pham Manh Dung - </a:t>
            </a:r>
            <a:r>
              <a:rPr lang="en-US" sz="2400" dirty="0">
                <a:ea typeface="+mn-lt"/>
                <a:cs typeface="+mn-lt"/>
              </a:rPr>
              <a:t>25MSA33050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1430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196E4-25F4-8878-2BB0-178F89CD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Problem Identification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7C244-1685-2CF7-82C6-16921EB49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Traditional air conditioning units often operate at constant settings regardless of actual occupancy or environmental changes, leading to significant energy waste and user discomfort</a:t>
            </a:r>
          </a:p>
          <a:p>
            <a:r>
              <a:rPr lang="en-US" b="1" dirty="0">
                <a:ea typeface="+mn-lt"/>
                <a:cs typeface="+mn-lt"/>
              </a:rPr>
              <a:t>Expected Outcomes:</a:t>
            </a:r>
            <a:r>
              <a:rPr lang="en-US" dirty="0">
                <a:ea typeface="+mn-lt"/>
                <a:cs typeface="+mn-lt"/>
              </a:rPr>
              <a:t> Tracking power consumption and enhanced user convenience through automated cooling and remote monitoring.</a:t>
            </a:r>
          </a:p>
          <a:p>
            <a:r>
              <a:rPr lang="en-US" b="1" dirty="0">
                <a:ea typeface="+mn-lt"/>
                <a:cs typeface="+mn-lt"/>
              </a:rPr>
              <a:t>Stakeholder: </a:t>
            </a:r>
            <a:r>
              <a:rPr lang="en-US" dirty="0">
                <a:ea typeface="+mn-lt"/>
                <a:cs typeface="+mn-lt"/>
              </a:rPr>
              <a:t>Homeowners ensuring immediate comfort regardless of their position in the room.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14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DB68D-39BE-0704-989F-DB3EA520B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F53AC-E85B-366E-3065-B5B7FA591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Real-time Environmental Monitoring:</a:t>
            </a:r>
            <a:r>
              <a:rPr lang="en-US" dirty="0">
                <a:ea typeface="+mn-lt"/>
                <a:cs typeface="+mn-lt"/>
              </a:rPr>
              <a:t> Continuous tracking of ambient temperature and humidity levels using DHT sensors.</a:t>
            </a:r>
          </a:p>
          <a:p>
            <a:r>
              <a:rPr lang="en-US" b="1" dirty="0">
                <a:ea typeface="+mn-lt"/>
                <a:cs typeface="+mn-lt"/>
              </a:rPr>
              <a:t>Intelligent Occupancy-Based Airflow:</a:t>
            </a:r>
            <a:r>
              <a:rPr lang="en-US" dirty="0">
                <a:ea typeface="+mn-lt"/>
                <a:cs typeface="+mn-lt"/>
              </a:rPr>
              <a:t> Utilizing PIR sensors to detect user presence and automatically adjusting the SG90 Servo to direct the air vent toward the occupant.</a:t>
            </a:r>
          </a:p>
          <a:p>
            <a:r>
              <a:rPr lang="en-US" b="1" dirty="0">
                <a:ea typeface="+mn-lt"/>
                <a:cs typeface="+mn-lt"/>
              </a:rPr>
              <a:t>Automated Climate Logic:</a:t>
            </a:r>
            <a:r>
              <a:rPr lang="en-US" dirty="0">
                <a:ea typeface="+mn-lt"/>
                <a:cs typeface="+mn-lt"/>
              </a:rPr>
              <a:t> Dynamic adjustment of cooling intensity based on real-time environmental data to maintain optimal comfort.</a:t>
            </a:r>
          </a:p>
          <a:p>
            <a:r>
              <a:rPr lang="en-US" b="1" dirty="0">
                <a:ea typeface="+mn-lt"/>
                <a:cs typeface="+mn-lt"/>
              </a:rPr>
              <a:t>Maintenance Alerts:</a:t>
            </a:r>
            <a:r>
              <a:rPr lang="en-US" dirty="0">
                <a:ea typeface="+mn-lt"/>
                <a:cs typeface="+mn-lt"/>
              </a:rPr>
              <a:t> notifications via </a:t>
            </a:r>
            <a:r>
              <a:rPr lang="en-US" b="1" dirty="0">
                <a:ea typeface="+mn-lt"/>
                <a:cs typeface="+mn-lt"/>
              </a:rPr>
              <a:t>Telegram</a:t>
            </a:r>
            <a:r>
              <a:rPr lang="en-US" dirty="0">
                <a:ea typeface="+mn-lt"/>
                <a:cs typeface="+mn-lt"/>
              </a:rPr>
              <a:t> or </a:t>
            </a:r>
            <a:r>
              <a:rPr lang="en-US" b="1" dirty="0">
                <a:ea typeface="+mn-lt"/>
                <a:cs typeface="+mn-lt"/>
              </a:rPr>
              <a:t>Firebase</a:t>
            </a:r>
            <a:r>
              <a:rPr lang="en-US" dirty="0">
                <a:ea typeface="+mn-lt"/>
                <a:cs typeface="+mn-lt"/>
              </a:rPr>
              <a:t> for temperature change.</a:t>
            </a:r>
          </a:p>
          <a:p>
            <a:r>
              <a:rPr lang="en-US" b="1" dirty="0">
                <a:ea typeface="+mn-lt"/>
                <a:cs typeface="+mn-lt"/>
              </a:rPr>
              <a:t>Energy Saving (Auto-Off):</a:t>
            </a:r>
            <a:r>
              <a:rPr lang="en-US" dirty="0">
                <a:ea typeface="+mn-lt"/>
                <a:cs typeface="+mn-lt"/>
              </a:rPr>
              <a:t> Automatically powering down the AC unit when no motion is detected for a specific duration to reduce electricity waste.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076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83F452-BE9F-BC8B-20BE-B2F12B393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749" y="909638"/>
            <a:ext cx="5201121" cy="1318062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Edge Layer (Hardware)</a:t>
            </a:r>
            <a:endParaRPr lang="en-US" dirty="0"/>
          </a:p>
        </p:txBody>
      </p:sp>
      <p:pic>
        <p:nvPicPr>
          <p:cNvPr id="4" name="Picture 3" descr="ESP32 Wi-Fi &amp; Bluetooth MCU I Espressif Systems">
            <a:extLst>
              <a:ext uri="{FF2B5EF4-FFF2-40B4-BE49-F238E27FC236}">
                <a16:creationId xmlns:a16="http://schemas.microsoft.com/office/drawing/2014/main" id="{95F4FD74-BE0D-B512-67F5-D3A7F81436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172" r="4513"/>
          <a:stretch>
            <a:fillRect/>
          </a:stretch>
        </p:blipFill>
        <p:spPr>
          <a:xfrm>
            <a:off x="20" y="10"/>
            <a:ext cx="5686740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739" y="722376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16B02-7DB8-D44C-A65E-DAB36A5A1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0838" y="2236843"/>
            <a:ext cx="5201121" cy="3931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Hardware:</a:t>
            </a:r>
            <a:r>
              <a:rPr lang="en-US" dirty="0">
                <a:ea typeface="+mn-lt"/>
                <a:cs typeface="+mn-lt"/>
              </a:rPr>
              <a:t> Controller: ESP32 for its integrated Wi-Fi and Bluetooth capabilities.</a:t>
            </a:r>
          </a:p>
          <a:p>
            <a:r>
              <a:rPr lang="en-US" b="1" dirty="0">
                <a:ea typeface="+mn-lt"/>
                <a:cs typeface="+mn-lt"/>
              </a:rPr>
              <a:t>Sensors:</a:t>
            </a:r>
            <a:r>
              <a:rPr lang="en-US" dirty="0">
                <a:ea typeface="+mn-lt"/>
                <a:cs typeface="+mn-lt"/>
              </a:rPr>
              <a:t> DHT11 for temperature/humidity and a PIR sensor for motion detection.</a:t>
            </a:r>
          </a:p>
          <a:p>
            <a:r>
              <a:rPr lang="en-US" b="1" dirty="0">
                <a:ea typeface="+mn-lt"/>
                <a:cs typeface="+mn-lt"/>
              </a:rPr>
              <a:t>Actuators:</a:t>
            </a:r>
            <a:r>
              <a:rPr lang="en-US" dirty="0">
                <a:ea typeface="+mn-lt"/>
                <a:cs typeface="+mn-lt"/>
              </a:rPr>
              <a:t> SG90 Servo to control the air vent direction and an IR Transmitter to send commands to the AC unit.</a:t>
            </a:r>
          </a:p>
          <a:p>
            <a:r>
              <a:rPr lang="en-US" b="1" dirty="0">
                <a:ea typeface="+mn-lt"/>
                <a:cs typeface="+mn-lt"/>
              </a:rPr>
              <a:t>Visualize:</a:t>
            </a:r>
            <a:r>
              <a:rPr lang="en-US" dirty="0">
                <a:ea typeface="+mn-lt"/>
                <a:cs typeface="+mn-lt"/>
              </a:rPr>
              <a:t> Using LCD I2C 16x2 to visualize temperature/humidity.</a:t>
            </a:r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497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EFDF-7178-6032-B3E9-3412838B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diagram of a computer&#10;&#10;AI-generated content may be incorrect.">
            <a:extLst>
              <a:ext uri="{FF2B5EF4-FFF2-40B4-BE49-F238E27FC236}">
                <a16:creationId xmlns:a16="http://schemas.microsoft.com/office/drawing/2014/main" id="{06C1D330-5166-21E0-1222-594068129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458" y="913652"/>
            <a:ext cx="10707997" cy="412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50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5AACC-61B5-1AAC-BDA2-C9C256586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ea typeface="+mj-lt"/>
                <a:cs typeface="+mj-lt"/>
              </a:rPr>
              <a:t>Communication &amp; Cloud Layer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35546-2765-6401-9BA7-D66321355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16759"/>
            <a:ext cx="7669285" cy="391754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ea typeface="+mn-lt"/>
                <a:cs typeface="+mn-lt"/>
              </a:rPr>
              <a:t>Hardware Integration:</a:t>
            </a:r>
            <a:r>
              <a:rPr lang="en-US" dirty="0">
                <a:ea typeface="+mn-lt"/>
                <a:cs typeface="+mn-lt"/>
              </a:rPr>
              <a:t> Utilize an </a:t>
            </a:r>
            <a:r>
              <a:rPr lang="en-US" b="1" dirty="0">
                <a:ea typeface="+mn-lt"/>
                <a:cs typeface="+mn-lt"/>
              </a:rPr>
              <a:t>LCD 16x2 with an I2C interface</a:t>
            </a:r>
            <a:r>
              <a:rPr lang="en-US" dirty="0">
                <a:ea typeface="+mn-lt"/>
                <a:cs typeface="+mn-lt"/>
              </a:rPr>
              <a:t> to provide a real-time local display of environmental data.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ea typeface="+mn-lt"/>
                <a:cs typeface="+mn-lt"/>
              </a:rPr>
              <a:t>Data Representation:</a:t>
            </a:r>
            <a:r>
              <a:rPr lang="en-US" dirty="0">
                <a:ea typeface="+mn-lt"/>
                <a:cs typeface="+mn-lt"/>
              </a:rPr>
              <a:t> Implement a continuous monitoring display that visualizes precise ambient </a:t>
            </a:r>
            <a:r>
              <a:rPr lang="en-US" b="1" dirty="0">
                <a:ea typeface="+mn-lt"/>
                <a:cs typeface="+mn-lt"/>
              </a:rPr>
              <a:t>temperature (°C)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humidity (%)</a:t>
            </a:r>
            <a:r>
              <a:rPr lang="en-US" dirty="0">
                <a:ea typeface="+mn-lt"/>
                <a:cs typeface="+mn-lt"/>
              </a:rPr>
              <a:t> levels directly on the device.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ea typeface="+mn-lt"/>
                <a:cs typeface="+mn-lt"/>
              </a:rPr>
              <a:t>User Feedback:</a:t>
            </a:r>
            <a:r>
              <a:rPr lang="en-US" dirty="0">
                <a:ea typeface="+mn-lt"/>
                <a:cs typeface="+mn-lt"/>
              </a:rPr>
              <a:t> Program the LCD to display system status updates, such as "AC ON/OFF" or "Human Detected," providing immediate feedback to the user without needing the web dashboard.</a:t>
            </a:r>
            <a:endParaRPr lang="en-US"/>
          </a:p>
        </p:txBody>
      </p:sp>
      <p:pic>
        <p:nvPicPr>
          <p:cNvPr id="4" name="Picture 3" descr="Esp32 cloud device with OTA | Upwork">
            <a:extLst>
              <a:ext uri="{FF2B5EF4-FFF2-40B4-BE49-F238E27FC236}">
                <a16:creationId xmlns:a16="http://schemas.microsoft.com/office/drawing/2014/main" id="{FA9AF062-4B05-4452-56BA-30E30376E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239" y="2599804"/>
            <a:ext cx="3713227" cy="279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863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F5179-7700-E554-A02F-060842436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Application Layer (User Interface)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89C03-D511-0AE1-0337-0FE9CAF31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dirty="0">
                <a:ea typeface="+mn-lt"/>
                <a:cs typeface="+mn-lt"/>
              </a:rPr>
              <a:t>Real-time Environmental Visualization:</a:t>
            </a:r>
            <a:r>
              <a:rPr lang="en-US" dirty="0">
                <a:ea typeface="+mn-lt"/>
                <a:cs typeface="+mn-lt"/>
              </a:rPr>
              <a:t> Dynamic gauges and line charts displaying live temperature and humidity data retrieved from the DHT sensor.</a:t>
            </a:r>
          </a:p>
          <a:p>
            <a:r>
              <a:rPr lang="en-US" b="1" dirty="0">
                <a:ea typeface="+mn-lt"/>
                <a:cs typeface="+mn-lt"/>
              </a:rPr>
              <a:t>Device Status &amp; Control:</a:t>
            </a:r>
            <a:r>
              <a:rPr lang="en-US" dirty="0">
                <a:ea typeface="+mn-lt"/>
                <a:cs typeface="+mn-lt"/>
              </a:rPr>
              <a:t> Toggle switches to power the AC on/off and sliders to adjust the target temperature via RESTful APIs.</a:t>
            </a:r>
          </a:p>
          <a:p>
            <a:r>
              <a:rPr lang="en-US" b="1" dirty="0">
                <a:ea typeface="+mn-lt"/>
                <a:cs typeface="+mn-lt"/>
              </a:rPr>
              <a:t>Push Notifications:</a:t>
            </a:r>
            <a:r>
              <a:rPr lang="en-US" dirty="0">
                <a:ea typeface="+mn-lt"/>
                <a:cs typeface="+mn-lt"/>
              </a:rPr>
              <a:t> Utilizing </a:t>
            </a:r>
            <a:r>
              <a:rPr lang="en-US" b="1" dirty="0">
                <a:ea typeface="+mn-lt"/>
                <a:cs typeface="+mn-lt"/>
              </a:rPr>
              <a:t>Firebase Cloud Messaging (FCM)</a:t>
            </a:r>
            <a:r>
              <a:rPr lang="en-US" dirty="0">
                <a:ea typeface="+mn-lt"/>
                <a:cs typeface="+mn-lt"/>
              </a:rPr>
              <a:t> or </a:t>
            </a:r>
            <a:r>
              <a:rPr lang="en-US" b="1" dirty="0">
                <a:ea typeface="+mn-lt"/>
                <a:cs typeface="+mn-lt"/>
              </a:rPr>
              <a:t>Telegram Bot API</a:t>
            </a:r>
            <a:r>
              <a:rPr lang="en-US" dirty="0">
                <a:ea typeface="+mn-lt"/>
                <a:cs typeface="+mn-lt"/>
              </a:rPr>
              <a:t> to send instant mobile alerts when motion is detected or when the AC is automatically shut down. </a:t>
            </a:r>
          </a:p>
          <a:p>
            <a:r>
              <a:rPr lang="en-US" b="1" dirty="0">
                <a:ea typeface="+mn-lt"/>
                <a:cs typeface="+mn-lt"/>
              </a:rPr>
              <a:t>Technical: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Data Communication:</a:t>
            </a:r>
            <a:r>
              <a:rPr lang="en-US" dirty="0">
                <a:ea typeface="+mn-lt"/>
                <a:cs typeface="+mn-lt"/>
              </a:rPr>
              <a:t> Integration with the backend via </a:t>
            </a:r>
            <a:r>
              <a:rPr lang="en-US" b="1" dirty="0" err="1">
                <a:ea typeface="+mn-lt"/>
                <a:cs typeface="+mn-lt"/>
              </a:rPr>
              <a:t>WebSockets</a:t>
            </a:r>
            <a:r>
              <a:rPr lang="en-US" dirty="0">
                <a:ea typeface="+mn-lt"/>
                <a:cs typeface="+mn-lt"/>
              </a:rPr>
              <a:t> for instant updates and </a:t>
            </a:r>
            <a:r>
              <a:rPr lang="en-US" b="1" dirty="0">
                <a:ea typeface="+mn-lt"/>
                <a:cs typeface="+mn-lt"/>
              </a:rPr>
              <a:t>RESTful APIs</a:t>
            </a:r>
            <a:r>
              <a:rPr lang="en-US" dirty="0">
                <a:ea typeface="+mn-lt"/>
                <a:cs typeface="+mn-lt"/>
              </a:rPr>
              <a:t> for command execution.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Responsive Design:</a:t>
            </a:r>
            <a:r>
              <a:rPr lang="en-US" dirty="0">
                <a:ea typeface="+mn-lt"/>
                <a:cs typeface="+mn-lt"/>
              </a:rPr>
              <a:t> The UI is optimized for both desktop and mobile views to ensure accessibility from any device. Using </a:t>
            </a:r>
            <a:r>
              <a:rPr lang="en-US" b="1" dirty="0">
                <a:ea typeface="+mn-lt"/>
                <a:cs typeface="+mn-lt"/>
              </a:rPr>
              <a:t>Next.js</a:t>
            </a:r>
            <a:r>
              <a:rPr lang="en-US" dirty="0">
                <a:ea typeface="+mn-lt"/>
                <a:cs typeface="+mn-lt"/>
              </a:rPr>
              <a:t> with </a:t>
            </a:r>
            <a:r>
              <a:rPr lang="en-US" b="1" dirty="0" err="1">
                <a:ea typeface="+mn-lt"/>
                <a:cs typeface="+mn-lt"/>
              </a:rPr>
              <a:t>Windtail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css</a:t>
            </a:r>
            <a:r>
              <a:rPr lang="en-US" b="1" dirty="0">
                <a:ea typeface="+mn-lt"/>
                <a:cs typeface="+mn-lt"/>
              </a:rPr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36216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191B6-C2AC-AB7F-B7A9-31B2D8461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diagram of a computer&#10;&#10;AI-generated content may be incorrect.">
            <a:extLst>
              <a:ext uri="{FF2B5EF4-FFF2-40B4-BE49-F238E27FC236}">
                <a16:creationId xmlns:a16="http://schemas.microsoft.com/office/drawing/2014/main" id="{D7CAE585-3B47-613A-6B68-71C4F3659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2210" y="899276"/>
            <a:ext cx="10203133" cy="506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93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CCC8-B6FC-5B30-CB2C-4C1EF943D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Work Breakdown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476C0-895A-74D3-9B96-548225F04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Hardware:</a:t>
            </a:r>
            <a:r>
              <a:rPr lang="en-US" dirty="0">
                <a:ea typeface="+mn-lt"/>
                <a:cs typeface="+mn-lt"/>
              </a:rPr>
              <a:t> Shared by Dũng, Thịnh, and Mạnh</a:t>
            </a:r>
          </a:p>
          <a:p>
            <a:r>
              <a:rPr lang="en-US" b="1" dirty="0">
                <a:ea typeface="+mn-lt"/>
                <a:cs typeface="+mn-lt"/>
              </a:rPr>
              <a:t>Cloud &amp; Infrastructure:</a:t>
            </a:r>
            <a:r>
              <a:rPr lang="en-US" dirty="0">
                <a:ea typeface="+mn-lt"/>
                <a:cs typeface="+mn-lt"/>
              </a:rPr>
              <a:t> Dũng</a:t>
            </a:r>
          </a:p>
          <a:p>
            <a:r>
              <a:rPr lang="en-US" b="1" dirty="0">
                <a:ea typeface="+mn-lt"/>
                <a:cs typeface="+mn-lt"/>
              </a:rPr>
              <a:t>User Interface</a:t>
            </a:r>
            <a:r>
              <a:rPr lang="en-US" dirty="0"/>
              <a:t>: Mạnh.</a:t>
            </a:r>
          </a:p>
          <a:p>
            <a:r>
              <a:rPr lang="en-US" b="1" dirty="0">
                <a:ea typeface="+mn-lt"/>
                <a:cs typeface="+mn-lt"/>
              </a:rPr>
              <a:t>Server/Backend</a:t>
            </a:r>
            <a:r>
              <a:rPr lang="en-US" b="1" dirty="0"/>
              <a:t>:</a:t>
            </a:r>
            <a:r>
              <a:rPr lang="en-US" dirty="0"/>
              <a:t> Thịnh.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77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CE06-485A-DD78-5236-F0B14473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  you for </a:t>
            </a:r>
            <a:r>
              <a:rPr lang="en-US" dirty="0">
                <a:ea typeface="+mj-lt"/>
                <a:cs typeface="+mj-lt"/>
              </a:rPr>
              <a:t>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717B9-D28D-E3C7-922A-FF3BA960A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5603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ChronicleVTI</vt:lpstr>
      <vt:lpstr>FInal PRoposal</vt:lpstr>
      <vt:lpstr>Smart AC Control System</vt:lpstr>
      <vt:lpstr>Nhóm 2</vt:lpstr>
      <vt:lpstr>Problem Identification</vt:lpstr>
      <vt:lpstr>Features</vt:lpstr>
      <vt:lpstr>Edge Layer (Hardware)</vt:lpstr>
      <vt:lpstr>PowerPoint Presentation</vt:lpstr>
      <vt:lpstr>Communication &amp; Cloud Layer</vt:lpstr>
      <vt:lpstr>Application Layer (User Interface)</vt:lpstr>
      <vt:lpstr>PowerPoint Presentation</vt:lpstr>
      <vt:lpstr>Work Breakdown</vt:lpstr>
      <vt:lpstr>Thank 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236</cp:revision>
  <dcterms:created xsi:type="dcterms:W3CDTF">2013-07-15T20:26:40Z</dcterms:created>
  <dcterms:modified xsi:type="dcterms:W3CDTF">2026-01-25T02:39:03Z</dcterms:modified>
</cp:coreProperties>
</file>